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ppt/_rels/presentation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slideLayout4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3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slide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10080625" cy="7559675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216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504000" y="1768680"/>
            <a:ext cx="8870400" cy="438444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endParaRPr/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obj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216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endParaRPr/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8870400" cy="438408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twoObj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216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endParaRPr/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328280" cy="438408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5049000" y="1768680"/>
            <a:ext cx="4328280" cy="438408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216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endParaRPr/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objOnly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2000" cy="585144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endParaRPr/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twoObjAndObj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216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endParaRPr/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328280" cy="209088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504000" y="4058280"/>
            <a:ext cx="4328280" cy="209088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5049000" y="1768680"/>
            <a:ext cx="4328280" cy="438408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objAndTwoObj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216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endParaRPr/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328280" cy="438408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5049000" y="1768680"/>
            <a:ext cx="4328280" cy="209088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5049000" y="4058280"/>
            <a:ext cx="4328280" cy="209088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twoObjOverTx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216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endParaRPr/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328280" cy="209088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5049000" y="1768680"/>
            <a:ext cx="4328280" cy="209088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504000" y="4058280"/>
            <a:ext cx="8869680" cy="209088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objOverTx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216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endParaRPr/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8870400" cy="209088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504000" y="4058280"/>
            <a:ext cx="8870400" cy="209088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fourObj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216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endParaRPr/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328280" cy="209088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049000" y="1768680"/>
            <a:ext cx="4328280" cy="209088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5049000" y="4058280"/>
            <a:ext cx="4328280" cy="209088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504000" y="4058280"/>
            <a:ext cx="4328280" cy="209088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blank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216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endParaRPr/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328280" cy="209088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5049000" y="1768680"/>
            <a:ext cx="4328280" cy="209088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r>
              <a:rPr lang="en-IN"/>
              <a:t>Click to edit the title text format</a:t>
            </a:r>
            <a:endParaRPr/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8870400" cy="4384080"/>
          </a:xfrm>
          <a:prstGeom prst="rect">
            <a:avLst/>
          </a:prstGeom>
        </p:spPr>
        <p:txBody>
          <a:bodyPr bIns="0" lIns="0" rIns="0" tIns="0" wrap="none"/>
          <a:p>
            <a:pPr>
              <a:buSzPct val="45000"/>
              <a:buFont typeface="StarSymbol"/>
              <a:buChar char=""/>
            </a:pPr>
            <a:r>
              <a:rPr lang="en-IN"/>
              <a:t>Click to edit the outline text format</a:t>
            </a:r>
            <a:endParaRPr/>
          </a:p>
          <a:p>
            <a:pPr lvl="1">
              <a:buSzPct val="75000"/>
              <a:buFont typeface="StarSymbol"/>
              <a:buChar char=""/>
            </a:pPr>
            <a:r>
              <a:rPr lang="en-IN"/>
              <a:t>Second Outline Level</a:t>
            </a:r>
            <a:endParaRPr/>
          </a:p>
          <a:p>
            <a:pPr lvl="2">
              <a:buSzPct val="45000"/>
              <a:buFont typeface="StarSymbol"/>
              <a:buChar char=""/>
            </a:pPr>
            <a:r>
              <a:rPr lang="en-IN"/>
              <a:t>Third Outline Level</a:t>
            </a:r>
            <a:endParaRPr/>
          </a:p>
          <a:p>
            <a:pPr lvl="3">
              <a:buSzPct val="75000"/>
              <a:buFont typeface="StarSymbol"/>
              <a:buChar char=""/>
            </a:pPr>
            <a:r>
              <a:rPr lang="en-IN"/>
              <a:t>Fourth Outline Level</a:t>
            </a:r>
            <a:endParaRPr/>
          </a:p>
          <a:p>
            <a:pPr lvl="4">
              <a:buSzPct val="45000"/>
              <a:buFont typeface="StarSymbol"/>
              <a:buChar char=""/>
            </a:pPr>
            <a:r>
              <a:rPr lang="en-IN"/>
              <a:t>Fifth Outline Level</a:t>
            </a:r>
            <a:endParaRPr/>
          </a:p>
          <a:p>
            <a:pPr lvl="5">
              <a:buSzPct val="45000"/>
              <a:buFont typeface="StarSymbol"/>
              <a:buChar char=""/>
            </a:pPr>
            <a:r>
              <a:rPr lang="en-IN"/>
              <a:t>Sixth Outline Level</a:t>
            </a:r>
            <a:endParaRPr/>
          </a:p>
          <a:p>
            <a:pPr lvl="6">
              <a:buSzPct val="45000"/>
              <a:buFont typeface="StarSymbol"/>
              <a:buChar char=""/>
            </a:pPr>
            <a:r>
              <a:rPr lang="en-IN"/>
              <a:t>Seventh Outline Level</a:t>
            </a:r>
            <a:endParaRPr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CustomShape 1"/>
          <p:cNvSpPr/>
          <p:nvPr/>
        </p:nvSpPr>
        <p:spPr>
          <a:xfrm>
            <a:off x="360000" y="1008000"/>
            <a:ext cx="7839720" cy="394920"/>
          </a:xfrm>
          <a:prstGeom prst="rect">
            <a:avLst/>
          </a:prstGeom>
        </p:spPr>
      </p:sp>
      <p:sp>
        <p:nvSpPr>
          <p:cNvPr id="35" name="CustomShape 2"/>
          <p:cNvSpPr/>
          <p:nvPr/>
        </p:nvSpPr>
        <p:spPr>
          <a:xfrm>
            <a:off x="1800000" y="10080"/>
            <a:ext cx="7488000" cy="448200"/>
          </a:xfrm>
          <a:prstGeom prst="rect">
            <a:avLst/>
          </a:prstGeom>
        </p:spPr>
        <p:txBody>
          <a:bodyPr anchor="ctr" bIns="0" lIns="0" rIns="0" tIns="0"/>
          <a:p>
            <a:pPr>
              <a:lnSpc>
                <a:spcPct val="93000"/>
              </a:lnSpc>
            </a:pPr>
            <a:r>
              <a:rPr b="1" lang="en-IN" sz="3200">
                <a:solidFill>
                  <a:srgbClr val="ff3333"/>
                </a:solidFill>
                <a:latin typeface="Arial"/>
                <a:ea typeface="Droid Sans Fallback"/>
              </a:rPr>
              <a:t>General Structure of  C program</a:t>
            </a:r>
            <a:endParaRPr/>
          </a:p>
        </p:txBody>
      </p:sp>
      <p:sp>
        <p:nvSpPr>
          <p:cNvPr id="36" name="CustomShape 3"/>
          <p:cNvSpPr/>
          <p:nvPr/>
        </p:nvSpPr>
        <p:spPr>
          <a:xfrm>
            <a:off x="432000" y="1538640"/>
            <a:ext cx="9225000" cy="685080"/>
          </a:xfrm>
          <a:prstGeom prst="rect">
            <a:avLst/>
          </a:prstGeom>
        </p:spPr>
      </p:sp>
      <p:sp>
        <p:nvSpPr>
          <p:cNvPr id="37" name="CustomShape 4"/>
          <p:cNvSpPr/>
          <p:nvPr/>
        </p:nvSpPr>
        <p:spPr>
          <a:xfrm>
            <a:off x="432000" y="2472120"/>
            <a:ext cx="9495720" cy="975600"/>
          </a:xfrm>
          <a:prstGeom prst="rect">
            <a:avLst/>
          </a:prstGeom>
        </p:spPr>
      </p:sp>
      <p:sp>
        <p:nvSpPr>
          <p:cNvPr id="38" name="CustomShape 5"/>
          <p:cNvSpPr/>
          <p:nvPr/>
        </p:nvSpPr>
        <p:spPr>
          <a:xfrm>
            <a:off x="9619200" y="0"/>
            <a:ext cx="454680" cy="650880"/>
          </a:xfrm>
          <a:prstGeom prst="rect">
            <a:avLst/>
          </a:prstGeom>
        </p:spPr>
        <p:txBody>
          <a:bodyPr bIns="45000" lIns="90000" rIns="90000" tIns="45000"/>
          <a:p>
            <a:pPr>
              <a:lnSpc>
                <a:spcPct val="100000"/>
              </a:lnSpc>
            </a:pPr>
            <a:r>
              <a:rPr b="1" lang="en-IN" sz="4000">
                <a:solidFill>
                  <a:srgbClr val="ff3333"/>
                </a:solidFill>
                <a:latin typeface="Arial"/>
                <a:ea typeface="DejaVu Sans"/>
              </a:rPr>
              <a:t>1</a:t>
            </a:r>
            <a:endParaRPr/>
          </a:p>
        </p:txBody>
      </p:sp>
      <p:sp>
        <p:nvSpPr>
          <p:cNvPr id="39" name="TextShape 6"/>
          <p:cNvSpPr txBox="1"/>
          <p:nvPr/>
        </p:nvSpPr>
        <p:spPr>
          <a:xfrm>
            <a:off x="360000" y="458280"/>
            <a:ext cx="9504000" cy="7101360"/>
          </a:xfrm>
          <a:prstGeom prst="rect">
            <a:avLst/>
          </a:prstGeom>
        </p:spPr>
        <p:txBody>
          <a:bodyPr bIns="45000" lIns="90000" rIns="90000" tIns="45000" wrap="none"/>
          <a:p>
            <a:r>
              <a:rPr lang="en-IN" sz="2600"/>
              <a:t>comments</a:t>
            </a:r>
            <a:endParaRPr/>
          </a:p>
          <a:p>
            <a:r>
              <a:rPr lang="en-IN" sz="2600"/>
              <a:t> </a:t>
            </a:r>
            <a:r>
              <a:rPr lang="en-IN" sz="2600"/>
              <a:t>pre-processor directives</a:t>
            </a:r>
            <a:endParaRPr/>
          </a:p>
          <a:p>
            <a:r>
              <a:rPr lang="en-IN" sz="2600"/>
              <a:t> </a:t>
            </a:r>
            <a:r>
              <a:rPr lang="en-IN" sz="2600"/>
              <a:t>function declarations</a:t>
            </a:r>
            <a:endParaRPr/>
          </a:p>
          <a:p>
            <a:r>
              <a:rPr lang="en-IN" sz="2600"/>
              <a:t> </a:t>
            </a:r>
            <a:r>
              <a:rPr lang="en-IN" sz="2600"/>
              <a:t>global variables</a:t>
            </a:r>
            <a:endParaRPr/>
          </a:p>
          <a:p>
            <a:r>
              <a:rPr lang="en-IN" sz="2600"/>
              <a:t> </a:t>
            </a:r>
            <a:r>
              <a:rPr lang="en-IN" sz="2600"/>
              <a:t>main() </a:t>
            </a:r>
            <a:endParaRPr/>
          </a:p>
          <a:p>
            <a:r>
              <a:rPr lang="en-IN" sz="2600"/>
              <a:t> </a:t>
            </a:r>
            <a:r>
              <a:rPr lang="en-IN" sz="2600"/>
              <a:t>{</a:t>
            </a:r>
            <a:endParaRPr/>
          </a:p>
          <a:p>
            <a:r>
              <a:rPr lang="en-IN" sz="2600"/>
              <a:t>	</a:t>
            </a:r>
            <a:r>
              <a:rPr lang="en-IN" sz="2600"/>
              <a:t>local varibles;</a:t>
            </a:r>
            <a:endParaRPr/>
          </a:p>
          <a:p>
            <a:r>
              <a:rPr lang="en-IN" sz="2600"/>
              <a:t>	</a:t>
            </a:r>
            <a:r>
              <a:rPr lang="en-IN" sz="2600"/>
              <a:t>--------------</a:t>
            </a:r>
            <a:endParaRPr/>
          </a:p>
          <a:p>
            <a:r>
              <a:rPr lang="en-IN" sz="2600"/>
              <a:t>	</a:t>
            </a:r>
            <a:r>
              <a:rPr lang="en-IN" sz="2600"/>
              <a:t>--------------  //statements</a:t>
            </a:r>
            <a:endParaRPr/>
          </a:p>
          <a:p>
            <a:r>
              <a:rPr lang="en-IN" sz="2600"/>
              <a:t>	</a:t>
            </a:r>
            <a:r>
              <a:rPr lang="en-IN" sz="2600"/>
              <a:t>--------------</a:t>
            </a:r>
            <a:endParaRPr/>
          </a:p>
          <a:p>
            <a:r>
              <a:rPr lang="en-IN" sz="2600"/>
              <a:t>	</a:t>
            </a:r>
            <a:r>
              <a:rPr lang="en-IN" sz="2600"/>
              <a:t>fun();</a:t>
            </a:r>
            <a:endParaRPr/>
          </a:p>
          <a:p>
            <a:r>
              <a:rPr lang="en-IN" sz="2600"/>
              <a:t> </a:t>
            </a:r>
            <a:r>
              <a:rPr lang="en-IN" sz="2600"/>
              <a:t>}</a:t>
            </a:r>
            <a:endParaRPr/>
          </a:p>
          <a:p>
            <a:r>
              <a:rPr lang="en-IN" sz="2600"/>
              <a:t> </a:t>
            </a:r>
            <a:r>
              <a:rPr lang="en-IN" sz="2600"/>
              <a:t>fun()</a:t>
            </a:r>
            <a:endParaRPr/>
          </a:p>
          <a:p>
            <a:r>
              <a:rPr lang="en-IN" sz="2600"/>
              <a:t> </a:t>
            </a:r>
            <a:r>
              <a:rPr lang="en-IN" sz="2600"/>
              <a:t>{</a:t>
            </a:r>
            <a:endParaRPr/>
          </a:p>
          <a:p>
            <a:r>
              <a:rPr lang="en-IN" sz="2600"/>
              <a:t>	</a:t>
            </a:r>
            <a:r>
              <a:rPr lang="en-IN" sz="2600"/>
              <a:t>local variables;</a:t>
            </a:r>
            <a:endParaRPr/>
          </a:p>
          <a:p>
            <a:r>
              <a:rPr lang="en-IN" sz="2600"/>
              <a:t>	</a:t>
            </a:r>
            <a:r>
              <a:rPr lang="en-IN" sz="2600"/>
              <a:t>-----------</a:t>
            </a:r>
            <a:endParaRPr/>
          </a:p>
          <a:p>
            <a:r>
              <a:rPr lang="en-IN" sz="2600"/>
              <a:t>	</a:t>
            </a:r>
            <a:r>
              <a:rPr lang="en-IN" sz="2600"/>
              <a:t>----------- //statements</a:t>
            </a:r>
            <a:endParaRPr/>
          </a:p>
          <a:p>
            <a:r>
              <a:rPr lang="en-IN" sz="2600"/>
              <a:t>	</a:t>
            </a:r>
            <a:r>
              <a:rPr lang="en-IN" sz="2600"/>
              <a:t>-----------</a:t>
            </a:r>
            <a:endParaRPr/>
          </a:p>
          <a:p>
            <a:r>
              <a:rPr lang="en-IN" sz="2600"/>
              <a:t> </a:t>
            </a:r>
            <a:r>
              <a:rPr lang="en-IN" sz="2600"/>
              <a:t>}</a:t>
            </a:r>
            <a:endParaRPr/>
          </a:p>
        </p:txBody>
      </p:sp>
    </p:spTree>
  </p:cSld>
  <p:timing>
    <p:tnLst>
      <p:par>
        <p:cTn dur="indefinite" id="1" nodeType="tmRoot" restart="never">
          <p:childTnLst>
            <p:seq>
              <p:cTn id="2" nodeType="mainSeq">
                <p:childTnLst/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Shape 1"/>
          <p:cNvSpPr txBox="1"/>
          <p:nvPr/>
        </p:nvSpPr>
        <p:spPr>
          <a:xfrm>
            <a:off x="348120" y="360000"/>
            <a:ext cx="9630720" cy="7200360"/>
          </a:xfrm>
          <a:prstGeom prst="rect">
            <a:avLst/>
          </a:prstGeom>
        </p:spPr>
        <p:txBody>
          <a:bodyPr bIns="45000" lIns="90000" rIns="90000" tIns="45000" wrap="none"/>
          <a:p>
            <a:r>
              <a:rPr b="1" lang="en-IN" sz="2800"/>
              <a:t>comments </a:t>
            </a:r>
            <a:r>
              <a:rPr lang="en-IN" sz="2800"/>
              <a:t>: </a:t>
            </a:r>
            <a:endParaRPr/>
          </a:p>
          <a:p>
            <a:r>
              <a:rPr lang="en-IN" sz="2800"/>
              <a:t> </a:t>
            </a:r>
            <a:r>
              <a:rPr lang="en-IN" sz="2800"/>
              <a:t>-------------</a:t>
            </a:r>
            <a:endParaRPr/>
          </a:p>
          <a:p>
            <a:r>
              <a:rPr lang="en-IN" sz="2800"/>
              <a:t>	</a:t>
            </a:r>
            <a:r>
              <a:rPr lang="en-IN" sz="2800"/>
              <a:t>Comments are written for user understanding purpose.</a:t>
            </a:r>
            <a:endParaRPr/>
          </a:p>
          <a:p>
            <a:r>
              <a:rPr lang="en-IN" sz="2800"/>
              <a:t>	</a:t>
            </a:r>
            <a:r>
              <a:rPr lang="en-IN" sz="2800"/>
              <a:t>These statements are not a part of code.</a:t>
            </a:r>
            <a:endParaRPr/>
          </a:p>
          <a:p>
            <a:endParaRPr/>
          </a:p>
          <a:p>
            <a:r>
              <a:rPr lang="en-IN" sz="2800"/>
              <a:t>	</a:t>
            </a:r>
            <a:r>
              <a:rPr lang="en-IN" sz="2800"/>
              <a:t>These statements are removed during compilation process for executable file.           </a:t>
            </a:r>
            <a:r>
              <a:rPr lang="en-IN" sz="2800"/>
              <a:t>	</a:t>
            </a:r>
            <a:endParaRPr/>
          </a:p>
          <a:p>
            <a:endParaRPr/>
          </a:p>
          <a:p>
            <a:r>
              <a:rPr lang="en-IN" sz="2800"/>
              <a:t>	</a:t>
            </a:r>
            <a:r>
              <a:rPr lang="en-IN" sz="2800"/>
              <a:t>Comments are 2 types.</a:t>
            </a:r>
            <a:endParaRPr/>
          </a:p>
          <a:p>
            <a:r>
              <a:rPr lang="en-IN" sz="2800"/>
              <a:t>	</a:t>
            </a:r>
            <a:r>
              <a:rPr lang="en-IN" sz="2800"/>
              <a:t>1) Single line comments (//----------)</a:t>
            </a:r>
            <a:endParaRPr/>
          </a:p>
          <a:p>
            <a:r>
              <a:rPr lang="en-IN" sz="2800"/>
              <a:t>	</a:t>
            </a:r>
            <a:r>
              <a:rPr lang="en-IN" sz="2800"/>
              <a:t>2) multiple line comments (/* -------</a:t>
            </a:r>
            <a:endParaRPr/>
          </a:p>
          <a:p>
            <a:r>
              <a:rPr lang="en-IN" sz="2800"/>
              <a:t>	</a:t>
            </a:r>
            <a:r>
              <a:rPr lang="en-IN" sz="2800"/>
              <a:t>	</a:t>
            </a:r>
            <a:r>
              <a:rPr lang="en-IN" sz="2800"/>
              <a:t>	</a:t>
            </a:r>
            <a:r>
              <a:rPr lang="en-IN" sz="2800"/>
              <a:t>	</a:t>
            </a:r>
            <a:r>
              <a:rPr lang="en-IN" sz="2800"/>
              <a:t>      </a:t>
            </a:r>
            <a:r>
              <a:rPr lang="en-IN" sz="2800"/>
              <a:t>-------</a:t>
            </a:r>
            <a:endParaRPr/>
          </a:p>
          <a:p>
            <a:r>
              <a:rPr lang="en-IN" sz="2800"/>
              <a:t>	</a:t>
            </a:r>
            <a:r>
              <a:rPr lang="en-IN" sz="2800"/>
              <a:t>	</a:t>
            </a:r>
            <a:r>
              <a:rPr lang="en-IN" sz="2800"/>
              <a:t>	</a:t>
            </a:r>
            <a:r>
              <a:rPr lang="en-IN" sz="2800"/>
              <a:t>	</a:t>
            </a:r>
            <a:r>
              <a:rPr lang="en-IN" sz="2800"/>
              <a:t>      </a:t>
            </a:r>
            <a:r>
              <a:rPr lang="en-IN" sz="2800"/>
              <a:t>-------</a:t>
            </a:r>
            <a:endParaRPr/>
          </a:p>
          <a:p>
            <a:r>
              <a:rPr lang="en-IN" sz="2800"/>
              <a:t>	</a:t>
            </a:r>
            <a:r>
              <a:rPr lang="en-IN" sz="2800"/>
              <a:t>	</a:t>
            </a:r>
            <a:r>
              <a:rPr lang="en-IN" sz="2800"/>
              <a:t>	</a:t>
            </a:r>
            <a:r>
              <a:rPr lang="en-IN" sz="2800"/>
              <a:t>	</a:t>
            </a:r>
            <a:r>
              <a:rPr lang="en-IN" sz="2800"/>
              <a:t>      </a:t>
            </a:r>
            <a:r>
              <a:rPr lang="en-IN" sz="2800"/>
              <a:t>------- */)</a:t>
            </a:r>
            <a:endParaRPr/>
          </a:p>
          <a:p>
            <a:endParaRPr/>
          </a:p>
        </p:txBody>
      </p:sp>
    </p:spTree>
  </p:cSld>
  <p:timing>
    <p:tnLst>
      <p:par>
        <p:cTn dur="indefinite" id="3" nodeType="tmRoot" restart="never">
          <p:childTnLst>
            <p:seq>
              <p:cTn id="4" nodeType="mainSeq">
                <p:childTnLst/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Shape 1"/>
          <p:cNvSpPr txBox="1"/>
          <p:nvPr/>
        </p:nvSpPr>
        <p:spPr>
          <a:xfrm>
            <a:off x="144000" y="254880"/>
            <a:ext cx="10296000" cy="6801120"/>
          </a:xfrm>
          <a:prstGeom prst="rect">
            <a:avLst/>
          </a:prstGeom>
        </p:spPr>
        <p:txBody>
          <a:bodyPr bIns="45000" lIns="90000" rIns="90000" tIns="45000" wrap="none"/>
          <a:p>
            <a:r>
              <a:rPr lang="en-IN" sz="2800"/>
              <a:t>pre-processor directives:</a:t>
            </a:r>
            <a:endParaRPr/>
          </a:p>
          <a:p>
            <a:r>
              <a:rPr lang="en-IN" sz="2800"/>
              <a:t>  </a:t>
            </a:r>
            <a:r>
              <a:rPr lang="en-IN" sz="2800"/>
              <a:t>-------------------------------</a:t>
            </a:r>
            <a:endParaRPr/>
          </a:p>
          <a:p>
            <a:r>
              <a:rPr lang="en-IN" sz="2800"/>
              <a:t>	</a:t>
            </a:r>
            <a:r>
              <a:rPr lang="en-IN" sz="2800"/>
              <a:t>The statements starts with '#' symbol is called pre-processor directives.</a:t>
            </a:r>
            <a:endParaRPr/>
          </a:p>
          <a:p>
            <a:endParaRPr/>
          </a:p>
          <a:p>
            <a:r>
              <a:rPr lang="en-IN" sz="2800"/>
              <a:t> </a:t>
            </a:r>
            <a:r>
              <a:rPr lang="en-IN" sz="2800"/>
              <a:t>	</a:t>
            </a:r>
            <a:r>
              <a:rPr lang="en-IN" sz="2800"/>
              <a:t>There are some of the pre-processor directives are</a:t>
            </a:r>
            <a:endParaRPr/>
          </a:p>
          <a:p>
            <a:r>
              <a:rPr lang="en-IN" sz="2800"/>
              <a:t> </a:t>
            </a:r>
            <a:r>
              <a:rPr lang="en-IN" sz="2800"/>
              <a:t>frequently used. They are</a:t>
            </a:r>
            <a:endParaRPr/>
          </a:p>
          <a:p>
            <a:endParaRPr/>
          </a:p>
          <a:p>
            <a:r>
              <a:rPr lang="en-IN" sz="2800"/>
              <a:t>	</a:t>
            </a:r>
            <a:r>
              <a:rPr lang="en-IN" sz="2800"/>
              <a:t>1) #include  2) #define  3) #if  4) #else 5) #ifdef</a:t>
            </a:r>
            <a:endParaRPr/>
          </a:p>
          <a:p>
            <a:r>
              <a:rPr lang="en-IN" sz="2800"/>
              <a:t>	</a:t>
            </a:r>
            <a:r>
              <a:rPr lang="en-IN" sz="2800"/>
              <a:t>6) #ifndef   7) #elif  8)#endif  9) #undef 10) #pragma </a:t>
            </a:r>
            <a:endParaRPr/>
          </a:p>
          <a:p>
            <a:r>
              <a:rPr lang="en-IN" sz="2800"/>
              <a:t>	</a:t>
            </a:r>
            <a:r>
              <a:rPr lang="en-IN" sz="2800"/>
              <a:t>and etc.</a:t>
            </a:r>
            <a:endParaRPr/>
          </a:p>
          <a:p>
            <a:endParaRPr/>
          </a:p>
          <a:p>
            <a:r>
              <a:rPr lang="en-IN" sz="2800"/>
              <a:t>  </a:t>
            </a:r>
            <a:r>
              <a:rPr lang="en-IN" sz="2800"/>
              <a:t>In these very frequently used pre-processor directives are</a:t>
            </a:r>
            <a:endParaRPr/>
          </a:p>
          <a:p>
            <a:r>
              <a:rPr lang="en-IN" sz="2800"/>
              <a:t>  </a:t>
            </a:r>
            <a:r>
              <a:rPr lang="en-IN" sz="2800"/>
              <a:t>1) #include   2) #define </a:t>
            </a:r>
            <a:endParaRPr/>
          </a:p>
          <a:p>
            <a:endParaRPr/>
          </a:p>
          <a:p>
            <a:endParaRPr/>
          </a:p>
          <a:p>
            <a:r>
              <a:rPr lang="en-IN" sz="2600"/>
              <a:t> </a:t>
            </a:r>
            <a:endParaRPr/>
          </a:p>
        </p:txBody>
      </p:sp>
    </p:spTree>
  </p:cSld>
  <p:timing>
    <p:tnLst>
      <p:par>
        <p:cTn dur="indefinite" id="5" nodeType="tmRoot" restart="never">
          <p:childTnLst>
            <p:seq>
              <p:cTn id="6" nodeType="mainSeq">
                <p:childTnLst/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Shape 1"/>
          <p:cNvSpPr txBox="1"/>
          <p:nvPr/>
        </p:nvSpPr>
        <p:spPr>
          <a:xfrm>
            <a:off x="196200" y="189000"/>
            <a:ext cx="9667800" cy="6432120"/>
          </a:xfrm>
          <a:prstGeom prst="rect">
            <a:avLst/>
          </a:prstGeom>
        </p:spPr>
        <p:txBody>
          <a:bodyPr bIns="45000" lIns="90000" rIns="90000" tIns="45000" wrap="none"/>
          <a:p>
            <a:r>
              <a:rPr lang="en-IN"/>
              <a:t> </a:t>
            </a:r>
            <a:r>
              <a:rPr lang="en-IN" sz="2800"/>
              <a:t>1) #include : This pre-processor directive is used for   </a:t>
            </a:r>
            <a:endParaRPr/>
          </a:p>
          <a:p>
            <a:r>
              <a:rPr lang="en-IN" sz="2800"/>
              <a:t>    </a:t>
            </a:r>
            <a:r>
              <a:rPr lang="en-IN" sz="2800"/>
              <a:t>-------------  inclusion of header files.</a:t>
            </a:r>
            <a:endParaRPr/>
          </a:p>
          <a:p>
            <a:endParaRPr/>
          </a:p>
          <a:p>
            <a:r>
              <a:rPr lang="en-IN" sz="2800"/>
              <a:t>    </a:t>
            </a:r>
            <a:r>
              <a:rPr lang="en-IN" sz="2800"/>
              <a:t>Header file :it is a file, which is extended with .h extension</a:t>
            </a:r>
            <a:endParaRPr/>
          </a:p>
          <a:p>
            <a:r>
              <a:rPr lang="en-IN" sz="2800"/>
              <a:t>    </a:t>
            </a:r>
            <a:r>
              <a:rPr lang="en-IN" sz="2800"/>
              <a:t>--------------- and it containes all the pre-defined function </a:t>
            </a:r>
            <a:endParaRPr/>
          </a:p>
          <a:p>
            <a:r>
              <a:rPr lang="en-IN" sz="2800"/>
              <a:t>	</a:t>
            </a:r>
            <a:r>
              <a:rPr lang="en-IN" sz="2800"/>
              <a:t>	</a:t>
            </a:r>
            <a:r>
              <a:rPr lang="en-IN" sz="2800"/>
              <a:t> </a:t>
            </a:r>
            <a:r>
              <a:rPr lang="en-IN" sz="2800"/>
              <a:t>declarations and pre-defined macro definitions.</a:t>
            </a:r>
            <a:endParaRPr/>
          </a:p>
          <a:p>
            <a:endParaRPr/>
          </a:p>
          <a:p>
            <a:endParaRPr/>
          </a:p>
          <a:p>
            <a:r>
              <a:rPr lang="en-IN" sz="2800"/>
              <a:t>	</a:t>
            </a:r>
            <a:r>
              <a:rPr lang="en-IN" sz="2800"/>
              <a:t>pre-defined function declarations</a:t>
            </a:r>
            <a:endParaRPr/>
          </a:p>
          <a:p>
            <a:r>
              <a:rPr lang="en-IN" sz="2800"/>
              <a:t>	</a:t>
            </a:r>
            <a:r>
              <a:rPr lang="en-IN" sz="2800"/>
              <a:t>	</a:t>
            </a:r>
            <a:r>
              <a:rPr lang="en-IN" sz="2800"/>
              <a:t>	</a:t>
            </a:r>
            <a:r>
              <a:rPr lang="en-IN" sz="2800"/>
              <a:t>+</a:t>
            </a:r>
            <a:endParaRPr/>
          </a:p>
          <a:p>
            <a:r>
              <a:rPr lang="en-IN" sz="2800"/>
              <a:t>	</a:t>
            </a:r>
            <a:r>
              <a:rPr lang="en-IN" sz="2800"/>
              <a:t>pre-defined macro definitions</a:t>
            </a:r>
            <a:endParaRPr/>
          </a:p>
          <a:p>
            <a:endParaRPr/>
          </a:p>
          <a:p>
            <a:r>
              <a:rPr lang="en-IN" sz="2800"/>
              <a:t> </a:t>
            </a:r>
            <a:endParaRPr/>
          </a:p>
          <a:p>
            <a:r>
              <a:rPr lang="en-IN" sz="2800"/>
              <a:t>    </a:t>
            </a:r>
            <a:r>
              <a:rPr lang="en-IN" sz="2800"/>
              <a:t>function: It is a sub program in a main program to </a:t>
            </a:r>
            <a:endParaRPr/>
          </a:p>
          <a:p>
            <a:r>
              <a:rPr lang="en-IN" sz="2800"/>
              <a:t>    </a:t>
            </a:r>
            <a:r>
              <a:rPr lang="en-IN" sz="2800"/>
              <a:t>------------ perform, a specific task.</a:t>
            </a:r>
            <a:r>
              <a:rPr lang="en-IN" sz="2800"/>
              <a:t>	</a:t>
            </a:r>
            <a:endParaRPr/>
          </a:p>
          <a:p>
            <a:endParaRPr/>
          </a:p>
        </p:txBody>
      </p:sp>
    </p:spTree>
  </p:cSld>
  <p:timing>
    <p:tnLst>
      <p:par>
        <p:cTn dur="indefinite" id="7" nodeType="tmRoot" restart="never">
          <p:childTnLst>
            <p:seq>
              <p:cTn id="8" nodeType="mainSeq">
                <p:childTnLst/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