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</a:t>
            </a:r>
            <a:r>
              <a:rPr b="0" lang="en-IN" sz="4400" spc="-1" strike="noStrike">
                <a:latin typeface="Arial"/>
              </a:rPr>
              <a:t>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ed</a:t>
            </a:r>
            <a:r>
              <a:rPr b="0" lang="en-IN" sz="4400" spc="-1" strike="noStrike">
                <a:latin typeface="Arial"/>
              </a:rPr>
              <a:t>it </a:t>
            </a:r>
            <a:r>
              <a:rPr b="0" lang="en-IN" sz="4400" spc="-1" strike="noStrike">
                <a:latin typeface="Arial"/>
              </a:rPr>
              <a:t>th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titl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te</a:t>
            </a:r>
            <a:r>
              <a:rPr b="0" lang="en-IN" sz="4400" spc="-1" strike="noStrike">
                <a:latin typeface="Arial"/>
              </a:rPr>
              <a:t>xt </a:t>
            </a:r>
            <a:r>
              <a:rPr b="0" lang="en-IN" sz="4400" spc="-1" strike="noStrike">
                <a:latin typeface="Arial"/>
              </a:rPr>
              <a:t>for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872000" y="144000"/>
            <a:ext cx="5181480" cy="64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9240" bIns="0" anchor="ctr"/>
          <a:p>
            <a:pPr>
              <a:lnSpc>
                <a:spcPct val="93000"/>
              </a:lnSpc>
            </a:pPr>
            <a:r>
              <a:rPr b="1" lang="en-IN" sz="3200" spc="-1" strike="noStrike">
                <a:solidFill>
                  <a:srgbClr val="ff3333"/>
                </a:solidFill>
                <a:latin typeface="Arial"/>
                <a:ea typeface="Droid Sans Fallback"/>
              </a:rPr>
              <a:t>              </a:t>
            </a:r>
            <a:r>
              <a:rPr b="1" lang="en-IN" sz="3200" spc="-1" strike="noStrike">
                <a:solidFill>
                  <a:srgbClr val="ff3333"/>
                </a:solidFill>
                <a:latin typeface="Arial"/>
                <a:ea typeface="Droid Sans Fallback"/>
              </a:rPr>
              <a:t>Preprocessor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432000" y="785880"/>
            <a:ext cx="9429480" cy="93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9440" bIns="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     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Preprocessor is one of the compilation stage, it is used to compile and execute the preprocessor directives.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293040" y="1721160"/>
            <a:ext cx="9640440" cy="353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Features of Preprocessor :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Each preprocessor directives starts with </a:t>
            </a:r>
            <a:r>
              <a:rPr b="0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'#'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There should be one preprocessor directive for one line.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 To extend preprocessor into multiple lines, then use </a:t>
            </a:r>
            <a:r>
              <a:rPr b="0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('\')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at end.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4. The preprocessor directives doesn't end with semicolon </a:t>
            </a:r>
            <a:r>
              <a:rPr b="0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(';')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5. Some of the preprocessor directive are  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roid Sans Fallback"/>
              </a:rPr>
              <a:t>#define,#include,#if,#else,#elif,#endif,#pragma, #ifdef,#if ndef.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9" name="CustomShape 4"/>
          <p:cNvSpPr/>
          <p:nvPr/>
        </p:nvSpPr>
        <p:spPr>
          <a:xfrm>
            <a:off x="437040" y="4824000"/>
            <a:ext cx="1864440" cy="45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Advantages :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0" name="CustomShape 5"/>
          <p:cNvSpPr/>
          <p:nvPr/>
        </p:nvSpPr>
        <p:spPr>
          <a:xfrm>
            <a:off x="288000" y="5219640"/>
            <a:ext cx="9717480" cy="208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Preprocessor enhances the code readability. (better code readability)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Program modification becomes simple.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Easy to debug.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4. Easy to test the program.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9401400" y="7200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10520" y="72000"/>
            <a:ext cx="4278960" cy="62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Operations of Preprocessor :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110520" y="720000"/>
            <a:ext cx="8693640" cy="228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Following operations are performed by preprocessors are,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Includes the</a:t>
            </a:r>
            <a:r>
              <a:rPr b="0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header files.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Removes the comments.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 Replacement of macros.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4. Performs conditional compilation.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144000" y="3168000"/>
            <a:ext cx="4173480" cy="34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1. Includes the header files :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3974400" y="3108960"/>
            <a:ext cx="4735080" cy="40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Includes the header files is in 2 ways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6" name="CustomShape 5"/>
          <p:cNvSpPr/>
          <p:nvPr/>
        </p:nvSpPr>
        <p:spPr>
          <a:xfrm>
            <a:off x="216000" y="3717720"/>
            <a:ext cx="1797480" cy="40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#include&lt;  &gt;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144000" y="5141160"/>
            <a:ext cx="1869480" cy="40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#include “  “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-72000" y="4133160"/>
            <a:ext cx="9427680" cy="71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Here, the pre-prossessor searches for header files in a predefined path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/usr/include/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9" name="CustomShape 8"/>
          <p:cNvSpPr/>
          <p:nvPr/>
        </p:nvSpPr>
        <p:spPr>
          <a:xfrm>
            <a:off x="185040" y="5472000"/>
            <a:ext cx="9028440" cy="71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Here, the pre-prossessor searches the header file in a present working directory, if it is not found then it searches predefined path /usr/include/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0" name="CustomShape 9"/>
          <p:cNvSpPr/>
          <p:nvPr/>
        </p:nvSpPr>
        <p:spPr>
          <a:xfrm>
            <a:off x="9401760" y="7200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392000" y="3117600"/>
            <a:ext cx="3826080" cy="21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720000" y="288000"/>
            <a:ext cx="3813840" cy="2517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CustomShape 3"/>
          <p:cNvSpPr/>
          <p:nvPr/>
        </p:nvSpPr>
        <p:spPr>
          <a:xfrm>
            <a:off x="779760" y="381600"/>
            <a:ext cx="3396240" cy="21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 //#include&lt;fun.c&gt;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 #include"fun.c"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8 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4" name="CustomShape 4"/>
          <p:cNvSpPr/>
          <p:nvPr/>
        </p:nvSpPr>
        <p:spPr>
          <a:xfrm>
            <a:off x="5688000" y="288000"/>
            <a:ext cx="4248000" cy="25178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CustomShape 5"/>
          <p:cNvSpPr/>
          <p:nvPr/>
        </p:nvSpPr>
        <p:spPr>
          <a:xfrm>
            <a:off x="5733000" y="432000"/>
            <a:ext cx="3627000" cy="136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         printf("fun function\n");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5 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6" name="CustomShape 6"/>
          <p:cNvSpPr/>
          <p:nvPr/>
        </p:nvSpPr>
        <p:spPr>
          <a:xfrm>
            <a:off x="2016000" y="2821680"/>
            <a:ext cx="936000" cy="34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Prog.c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" name="CustomShape 7"/>
          <p:cNvSpPr/>
          <p:nvPr/>
        </p:nvSpPr>
        <p:spPr>
          <a:xfrm>
            <a:off x="7128000" y="2821680"/>
            <a:ext cx="792000" cy="34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fun.c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" name="CustomShape 8"/>
          <p:cNvSpPr/>
          <p:nvPr/>
        </p:nvSpPr>
        <p:spPr>
          <a:xfrm>
            <a:off x="144000" y="3744000"/>
            <a:ext cx="6268320" cy="69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comments are removed in preprocessor stage.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They are defined for better code readabilty.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9" name="CustomShape 9"/>
          <p:cNvSpPr/>
          <p:nvPr/>
        </p:nvSpPr>
        <p:spPr>
          <a:xfrm>
            <a:off x="268920" y="3189240"/>
            <a:ext cx="3904920" cy="62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Removing the comments :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CustomShape 10"/>
          <p:cNvSpPr/>
          <p:nvPr/>
        </p:nvSpPr>
        <p:spPr>
          <a:xfrm>
            <a:off x="254520" y="4485600"/>
            <a:ext cx="3879000" cy="62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Replacement of macros :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1" name="CustomShape 11"/>
          <p:cNvSpPr/>
          <p:nvPr/>
        </p:nvSpPr>
        <p:spPr>
          <a:xfrm>
            <a:off x="247680" y="4989960"/>
            <a:ext cx="9182160" cy="134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1.It is a part of the program,macro name is replaced with macro body.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</a:t>
            </a:r>
            <a:r>
              <a:rPr b="0" lang="en-IN" sz="2200" spc="-1" strike="noStrike">
                <a:solidFill>
                  <a:srgbClr val="ff33ff"/>
                </a:solidFill>
                <a:latin typeface="Arial"/>
                <a:ea typeface="Droid Sans Fallback"/>
              </a:rPr>
              <a:t>#define </a:t>
            </a:r>
            <a:r>
              <a:rPr b="0" lang="en-IN" sz="2200" spc="-1" strike="noStrike">
                <a:solidFill>
                  <a:srgbClr val="9900ff"/>
                </a:solidFill>
                <a:latin typeface="Arial"/>
                <a:ea typeface="Droid Sans Fallback"/>
              </a:rPr>
              <a:t>macro_name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roid Sans Fallback"/>
              </a:rPr>
              <a:t> macro_body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3.Here, #define is preprocessor directive.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2" name="CustomShape 12"/>
          <p:cNvSpPr/>
          <p:nvPr/>
        </p:nvSpPr>
        <p:spPr>
          <a:xfrm>
            <a:off x="9398520" y="12096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115200" y="864000"/>
            <a:ext cx="6434280" cy="87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2"/>
          <p:cNvSpPr/>
          <p:nvPr/>
        </p:nvSpPr>
        <p:spPr>
          <a:xfrm>
            <a:off x="1008360" y="1008360"/>
            <a:ext cx="2517480" cy="357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Pre-defined macros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" name="CustomShape 3"/>
          <p:cNvSpPr/>
          <p:nvPr/>
        </p:nvSpPr>
        <p:spPr>
          <a:xfrm>
            <a:off x="6264360" y="1008360"/>
            <a:ext cx="2517480" cy="357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User-defined macros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6" name="CustomShape 4"/>
          <p:cNvSpPr/>
          <p:nvPr/>
        </p:nvSpPr>
        <p:spPr>
          <a:xfrm>
            <a:off x="3924720" y="21600"/>
            <a:ext cx="1869480" cy="357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macros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7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7"/>
          <p:cNvSpPr/>
          <p:nvPr/>
        </p:nvSpPr>
        <p:spPr>
          <a:xfrm>
            <a:off x="5184360" y="2088360"/>
            <a:ext cx="186948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Macros 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Without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arguments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" name="CustomShape 8"/>
          <p:cNvSpPr/>
          <p:nvPr/>
        </p:nvSpPr>
        <p:spPr>
          <a:xfrm>
            <a:off x="8136360" y="2088360"/>
            <a:ext cx="186948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Macros 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With</a:t>
            </a:r>
            <a:endParaRPr b="0" lang="en-IN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arguments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" name="Line 9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Line 10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1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Line 1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Line 1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Line 1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15"/>
          <p:cNvSpPr/>
          <p:nvPr/>
        </p:nvSpPr>
        <p:spPr>
          <a:xfrm>
            <a:off x="9398520" y="12096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18" name="CustomShape 16"/>
          <p:cNvSpPr/>
          <p:nvPr/>
        </p:nvSpPr>
        <p:spPr>
          <a:xfrm>
            <a:off x="33480" y="3168000"/>
            <a:ext cx="9756360" cy="321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2 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3 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4         printf("%d\n",(int)NULL);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printf("%d\n",EOF);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printf("line no : %d\n",__LINE__);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printf("file name : %s\n",__FILE__);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printf("time : %s\n",__TIME__);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//last compilation time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printf("date : %s\n",__DATE__);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//last compilation date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10 }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9" name="CustomShape 17"/>
          <p:cNvSpPr/>
          <p:nvPr/>
        </p:nvSpPr>
        <p:spPr>
          <a:xfrm>
            <a:off x="204840" y="2808000"/>
            <a:ext cx="2579040" cy="34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Pre-defined macros :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0" name="Line 18"/>
          <p:cNvSpPr/>
          <p:nvPr/>
        </p:nvSpPr>
        <p:spPr>
          <a:xfrm>
            <a:off x="4824000" y="380520"/>
            <a:ext cx="360" cy="1954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Line 19"/>
          <p:cNvSpPr/>
          <p:nvPr/>
        </p:nvSpPr>
        <p:spPr>
          <a:xfrm flipH="1">
            <a:off x="2232000" y="576000"/>
            <a:ext cx="259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Line 20"/>
          <p:cNvSpPr/>
          <p:nvPr/>
        </p:nvSpPr>
        <p:spPr>
          <a:xfrm>
            <a:off x="2232000" y="576000"/>
            <a:ext cx="360" cy="432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Line 21"/>
          <p:cNvSpPr/>
          <p:nvPr/>
        </p:nvSpPr>
        <p:spPr>
          <a:xfrm>
            <a:off x="4824000" y="576000"/>
            <a:ext cx="2808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Line 22"/>
          <p:cNvSpPr/>
          <p:nvPr/>
        </p:nvSpPr>
        <p:spPr>
          <a:xfrm>
            <a:off x="7632000" y="576000"/>
            <a:ext cx="360" cy="432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Line 23"/>
          <p:cNvSpPr/>
          <p:nvPr/>
        </p:nvSpPr>
        <p:spPr>
          <a:xfrm>
            <a:off x="7488000" y="1367280"/>
            <a:ext cx="360" cy="2887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Line 24"/>
          <p:cNvSpPr/>
          <p:nvPr/>
        </p:nvSpPr>
        <p:spPr>
          <a:xfrm flipH="1">
            <a:off x="6120000" y="1656000"/>
            <a:ext cx="1368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Line 25"/>
          <p:cNvSpPr/>
          <p:nvPr/>
        </p:nvSpPr>
        <p:spPr>
          <a:xfrm>
            <a:off x="6120000" y="1656000"/>
            <a:ext cx="360" cy="432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Line 26"/>
          <p:cNvSpPr/>
          <p:nvPr/>
        </p:nvSpPr>
        <p:spPr>
          <a:xfrm>
            <a:off x="7416000" y="1656000"/>
            <a:ext cx="1656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Line 27"/>
          <p:cNvSpPr/>
          <p:nvPr/>
        </p:nvSpPr>
        <p:spPr>
          <a:xfrm>
            <a:off x="9072000" y="1656000"/>
            <a:ext cx="360" cy="432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432000" y="648000"/>
            <a:ext cx="4245840" cy="199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pi 3.14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printf("%f\n",pi);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6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76000" y="301680"/>
            <a:ext cx="610992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User defind macros without arguments :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9401040" y="16956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433080" y="3169800"/>
            <a:ext cx="5685840" cy="258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char int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3 #define int float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char ch;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//int ch;  //float ch;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int x;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//float x;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8 }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5847840" y="3722400"/>
            <a:ext cx="1341360" cy="40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Output : 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5" name="CustomShape 6"/>
          <p:cNvSpPr/>
          <p:nvPr/>
        </p:nvSpPr>
        <p:spPr>
          <a:xfrm>
            <a:off x="5847840" y="4125240"/>
            <a:ext cx="1350000" cy="71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float ch;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float x;</a:t>
            </a:r>
            <a:endParaRPr b="0" lang="en-IN" sz="22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144000" y="216000"/>
            <a:ext cx="5757840" cy="321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char </a:t>
            </a:r>
            <a:r>
              <a:rPr b="0" lang="en-IN" sz="2200" spc="-1" strike="noStrike">
                <a:solidFill>
                  <a:srgbClr val="9900ff"/>
                </a:solidFill>
                <a:latin typeface="Arial"/>
                <a:ea typeface="DejaVu Sans"/>
              </a:rPr>
              <a:t>int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9900ff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9900ff"/>
                </a:solidFill>
                <a:latin typeface="Arial"/>
                <a:ea typeface="DejaVu Sans"/>
              </a:rPr>
              <a:t>3 #define int</a:t>
            </a:r>
            <a:r>
              <a:rPr b="0" lang="en-IN" sz="2200" spc="-1" strike="noStrike">
                <a:solidFill>
                  <a:srgbClr val="ff33ff"/>
                </a:solidFill>
                <a:latin typeface="Arial"/>
                <a:ea typeface="DejaVu Sans"/>
              </a:rPr>
              <a:t> float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ff33ff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ff33ff"/>
                </a:solidFill>
                <a:latin typeface="Arial"/>
                <a:ea typeface="DejaVu Sans"/>
              </a:rPr>
              <a:t>4 #define float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char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5 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6 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char ch;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//int ch; //float ch; //char ch;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int x;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//float x; //char x; //int x;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float f;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 //char f; //int f; //float f; 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10 }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6279840" y="432000"/>
            <a:ext cx="2142000" cy="1338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Output :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char ch;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int x;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float f;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9401760" y="22104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286920" y="3454560"/>
            <a:ext cx="561492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User defind macros with arguments :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0" name="CustomShape 5"/>
          <p:cNvSpPr/>
          <p:nvPr/>
        </p:nvSpPr>
        <p:spPr>
          <a:xfrm>
            <a:off x="122400" y="3960000"/>
            <a:ext cx="5347440" cy="227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sum(a,b) a+b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x = 10,y = 20;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printf("x+y = %d\n",sum(x,y));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7 }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1" name="CustomShape 6"/>
          <p:cNvSpPr/>
          <p:nvPr/>
        </p:nvSpPr>
        <p:spPr>
          <a:xfrm>
            <a:off x="6120000" y="3987720"/>
            <a:ext cx="2142000" cy="71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Output :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x+y = 30</a:t>
            </a:r>
            <a:endParaRPr b="0" lang="en-IN" sz="22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312000" y="144000"/>
            <a:ext cx="3354120" cy="544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600" spc="-1" strike="noStrike">
                <a:solidFill>
                  <a:srgbClr val="ff3333"/>
                </a:solidFill>
                <a:latin typeface="Arial"/>
                <a:ea typeface="Droid Sans Fallback"/>
              </a:rPr>
              <a:t>Macro vs Functions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43" name="CustomShape 2"/>
          <p:cNvSpPr/>
          <p:nvPr/>
        </p:nvSpPr>
        <p:spPr>
          <a:xfrm>
            <a:off x="144000" y="1607760"/>
            <a:ext cx="6449760" cy="127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Macros are replacement in preprocessor stage.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Macro arguments are generic.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 Stack memory not used in macros.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4. faster execution.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72000" y="3732120"/>
            <a:ext cx="9820800" cy="159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</a:t>
            </a:r>
            <a:r>
              <a:rPr b="0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Functions are not for replacements.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Function arguments are specific.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 When a function is called internally stack memory is used for storing the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return addresses.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4. saving memory.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182160" y="1152000"/>
            <a:ext cx="13276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Macro :</a:t>
            </a:r>
            <a:r>
              <a:rPr b="0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6" name="CustomShape 5"/>
          <p:cNvSpPr/>
          <p:nvPr/>
        </p:nvSpPr>
        <p:spPr>
          <a:xfrm>
            <a:off x="72000" y="3312000"/>
            <a:ext cx="17164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Function :</a:t>
            </a:r>
            <a:r>
              <a:rPr b="0" lang="en-IN" sz="24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7" name="CustomShape 6"/>
          <p:cNvSpPr/>
          <p:nvPr/>
        </p:nvSpPr>
        <p:spPr>
          <a:xfrm>
            <a:off x="9401760" y="26964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3747960" y="216000"/>
            <a:ext cx="2729880" cy="43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Macro vs Typedef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360000" y="1037160"/>
            <a:ext cx="7893000" cy="191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 u="sng">
                <a:solidFill>
                  <a:srgbClr val="ff3333"/>
                </a:solidFill>
                <a:uFillTx/>
                <a:latin typeface="Arial"/>
                <a:ea typeface="Droid Sans Fallback"/>
              </a:rPr>
              <a:t>Macro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0000ff"/>
                </a:solidFill>
                <a:latin typeface="Arial"/>
                <a:ea typeface="Droid Sans Fallback"/>
              </a:rPr>
              <a:t>Syntax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#define </a:t>
            </a: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roid Sans Fallback"/>
              </a:rPr>
              <a:t>macro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9900ff"/>
                </a:solidFill>
                <a:latin typeface="Arial"/>
                <a:ea typeface="Droid Sans Fallback"/>
              </a:rPr>
              <a:t>macro_body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1.#define is a preprocess directive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2.Macroname and Macrobody possible to take as keywords.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3.Macros for replacement.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0" name="CustomShape 3"/>
          <p:cNvSpPr/>
          <p:nvPr/>
        </p:nvSpPr>
        <p:spPr>
          <a:xfrm>
            <a:off x="348120" y="3312000"/>
            <a:ext cx="8793720" cy="220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 u="sng">
                <a:solidFill>
                  <a:srgbClr val="ff3333"/>
                </a:solidFill>
                <a:uFillTx/>
                <a:latin typeface="Arial"/>
                <a:ea typeface="Droid Sans Fallback"/>
              </a:rPr>
              <a:t>Typedef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0000ff"/>
                </a:solidFill>
                <a:latin typeface="Arial"/>
                <a:ea typeface="Droid Sans Fallback"/>
              </a:rPr>
              <a:t>Syntax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t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ypedef </a:t>
            </a:r>
            <a:r>
              <a:rPr b="0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existing_type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new_type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1.typedef is a keyword.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2.existing_type is possible as keyword but new_type can not be a 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keyword.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3.typedef is not for replacement.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9401400" y="31860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5840" y="213840"/>
            <a:ext cx="5022720" cy="435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//typedef int* INT_PTR;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#define INT_PTR int*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10,y = 20;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INT_PTR p,q;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//int *p,q;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p = &amp;x;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q = &amp;y;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printf("*p = %d  *q = %d\n",*p,*q);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-720" y="4316040"/>
            <a:ext cx="5759280" cy="344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swap(a,b) a=a+b-(b=a)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char ch1 = 'A',ch2 = 'B';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int x = 10,y = 20;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swap(ch1,ch2);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swap(x,y);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printf("ch1 = %c  ch2 = %c\n",ch1,ch2);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printf("x = %d  y = %d\n",x,y);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9402120" y="367560"/>
            <a:ext cx="4600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8360" y="221760"/>
            <a:ext cx="5740200" cy="435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#define mul(a,b) a*b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/*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int mul(int a,int b)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{          //5    -1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return a*b;  //return 5*-1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*/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int x = 2, y = 3;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printf("%d\n",mul(x+y,x-y));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//x+y*x-y ---&gt; 2+3*2-3 ---&gt; 2+6-3 ---&gt; 8-3 ---&gt; 5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44000" y="4741560"/>
            <a:ext cx="6910560" cy="222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printf("vector""india""pvt""ltd""\n");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printf("vector""""india""""pvt""""ltd""""\n");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//printf("vector"""india""""pvt""""ltd""""\n");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9072000" y="367560"/>
            <a:ext cx="79020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10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113760" y="125640"/>
            <a:ext cx="3916800" cy="28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//stringizing operator (#)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2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3 #define m(x) #x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4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5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6         m(hello);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//--&gt; "hello"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7         m(1234);  //--&gt; "1234"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8         m(22.7);  //--&gt; "22.7"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9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195120" y="3168000"/>
            <a:ext cx="5491440" cy="4357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print(a) printf(#a" = %d\n",a)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x = 10, y = 20, z = 30;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print(x);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print(y);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print(z);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/*output :  print(a) --&gt; printf("x = %d\n",x);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11   x = 10                 printf(#a" = %d\n",a);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12   y = 20                 printf("x"" = %d\n",x);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13   z = 30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14 *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CustomShape 3"/>
          <p:cNvSpPr/>
          <p:nvPr/>
        </p:nvSpPr>
        <p:spPr>
          <a:xfrm>
            <a:off x="9072000" y="144000"/>
            <a:ext cx="100656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61" name="CustomShape 4"/>
          <p:cNvSpPr/>
          <p:nvPr/>
        </p:nvSpPr>
        <p:spPr>
          <a:xfrm>
            <a:off x="4176000" y="792000"/>
            <a:ext cx="5653440" cy="100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Stringizing(#) is an operator, which is applied to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Macro argument, so that it will replaces that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Argument in a string format.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111240" y="144360"/>
            <a:ext cx="9214560" cy="377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#define print(a,b,c) printf(#a" = %d\n"#b" = %d\n"#c" = %d\n",a,b,c)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10, y = 20, z = 30;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print(x,y,z);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//print(x,y,z)--&gt; printf("x = %d y = %d z = %d\n",x,y,z);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//print(a,b,c)--&gt;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//printf(#a" = %d\n"#b" = %d\n"#z" = %d\n",a,b,c);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200" spc="-1" strike="noStrike">
                <a:solidFill>
                  <a:srgbClr val="6666ff"/>
                </a:solidFill>
                <a:latin typeface="Arial"/>
                <a:ea typeface="DejaVu Sans"/>
              </a:rPr>
              <a:t>//printf("x"" = %d\n""y"" = %d\n""z"" = %d\n",x,y,z);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148320" y="3749760"/>
            <a:ext cx="5538240" cy="3747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//token pasting operator(##)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#define paste(x,y) x##y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#define marks(x) marks_##x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int xy = 100;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float marks_c = 92.5, marks_unix = 73.9;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printf("xy = %d\n",paste(x,y));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printf("marks_c = %f\n",marks(c));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      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printf("marks_unix = %f\n",marks(unix));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64" name="CustomShape 3"/>
          <p:cNvSpPr/>
          <p:nvPr/>
        </p:nvSpPr>
        <p:spPr>
          <a:xfrm>
            <a:off x="9144000" y="367560"/>
            <a:ext cx="79056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65" name="CustomShape 4"/>
          <p:cNvSpPr/>
          <p:nvPr/>
        </p:nvSpPr>
        <p:spPr>
          <a:xfrm>
            <a:off x="4948200" y="4018320"/>
            <a:ext cx="4766400" cy="698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Token pasting is an operator(##), which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Is used for concatenation purpose.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3240000" y="114840"/>
            <a:ext cx="3949200" cy="45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Conditional compilation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144000" y="864000"/>
            <a:ext cx="9862200" cy="278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It is possible to compile a program based on condition.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Preprocessor directives used for conditional compilation are,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	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roid Sans Fallback"/>
              </a:rPr>
              <a:t>#ifdef , #ifndef , #if , #else , #elif , #endif.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 u="sng">
                <a:solidFill>
                  <a:srgbClr val="6666ff"/>
                </a:solidFill>
                <a:uFillTx/>
                <a:latin typeface="Arial"/>
                <a:ea typeface="Droid Sans Fallback"/>
              </a:rPr>
              <a:t>	</a:t>
            </a:r>
            <a:r>
              <a:rPr b="0" lang="en-IN" sz="2000" spc="-1" strike="noStrike" u="sng">
                <a:solidFill>
                  <a:srgbClr val="ff3333"/>
                </a:solidFill>
                <a:uFillTx/>
                <a:latin typeface="Arial"/>
                <a:ea typeface="Droid Sans Fallback"/>
              </a:rPr>
              <a:t>Advantages: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roid Sans Fallback"/>
              </a:rPr>
              <a:t>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Code size will be minimized.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 u="sng">
                <a:solidFill>
                  <a:srgbClr val="6666ff"/>
                </a:solidFill>
                <a:uFillTx/>
                <a:latin typeface="Arial"/>
                <a:ea typeface="Droid Sans Fallback"/>
              </a:rPr>
              <a:t>	</a:t>
            </a:r>
            <a:r>
              <a:rPr b="0" lang="en-IN" sz="2000" spc="-1" strike="noStrike" u="sng">
                <a:solidFill>
                  <a:srgbClr val="ff3333"/>
                </a:solidFill>
                <a:uFillTx/>
                <a:latin typeface="Arial"/>
                <a:ea typeface="Droid Sans Fallback"/>
              </a:rPr>
              <a:t>Disadvantages:</a:t>
            </a: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	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we cannot provide the values at runtime,everything will be decided at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roid Sans Fallback"/>
              </a:rPr>
              <a:t>preprocessor stage.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8" name="CustomShape 3"/>
          <p:cNvSpPr/>
          <p:nvPr/>
        </p:nvSpPr>
        <p:spPr>
          <a:xfrm>
            <a:off x="9288000" y="367560"/>
            <a:ext cx="7912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69" name="CustomShape 4"/>
          <p:cNvSpPr/>
          <p:nvPr/>
        </p:nvSpPr>
        <p:spPr>
          <a:xfrm>
            <a:off x="227160" y="3960000"/>
            <a:ext cx="4595400" cy="344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#define v1 5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#define v2 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#if v1&gt;v2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printf("v is greater\n");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#elif v1&lt;v2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printf("v is smaller\n");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#endif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ustomShape 1"/>
          <p:cNvSpPr/>
          <p:nvPr/>
        </p:nvSpPr>
        <p:spPr>
          <a:xfrm>
            <a:off x="216000" y="504000"/>
            <a:ext cx="5974560" cy="4358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        #define FLAG 8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#ifdef FLAG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printf("FLAG is defined\n");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#endif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 #undef FLAG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#ifndef FLAG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printf("FLAG is undefined\n");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#endif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71" name="CustomShape 2"/>
          <p:cNvSpPr/>
          <p:nvPr/>
        </p:nvSpPr>
        <p:spPr>
          <a:xfrm>
            <a:off x="9270720" y="416880"/>
            <a:ext cx="791280" cy="65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14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2023-03-31T14:43:39Z</dcterms:modified>
  <cp:revision>28</cp:revision>
  <dc:subject/>
  <dc:title/>
</cp:coreProperties>
</file>